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84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9269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to a child's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before a parent ever finds out?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36118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 at consent and children's data protection on YouTube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5989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8F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Vedantu Product Assignment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area: Children's data protection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045" y="1234440"/>
            <a:ext cx="341757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verview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7772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/>
          </a:p>
        </p:txBody>
      </p:sp>
      <p:sp>
        <p:nvSpPr>
          <p:cNvPr id="3" name="Title"/>
          <p:cNvSpPr/>
          <p:nvPr/>
        </p:nvSpPr>
        <p:spPr>
          <a:xfrm>
            <a:off x="777240" y="822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2600"/>
          </a:p>
        </p:txBody>
      </p:sp>
      <p:sp>
        <p:nvSpPr>
          <p:cNvPr id="4" name="Intro"/>
          <p:cNvSpPr/>
          <p:nvPr/>
        </p:nvSpPr>
        <p:spPr>
          <a:xfrm>
            <a:off x="777240" y="1489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 at consent and children's data protection on YouTube — from the problem, through the journey a child actually takes, to a redesign and its tradeoffs.</a:t>
            </a:r>
            <a:endParaRPr lang="en-US" sz="1350"/>
          </a:p>
        </p:txBody>
      </p:sp>
      <p:sp>
        <p:nvSpPr>
          <p:cNvPr id="10" name="Num 01"/>
          <p:cNvSpPr/>
          <p:nvPr/>
        </p:nvSpPr>
        <p:spPr>
          <a:xfrm>
            <a:off x="7772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/>
          </a:p>
        </p:txBody>
      </p:sp>
      <p:sp>
        <p:nvSpPr>
          <p:cNvPr id="11" name="Row 01 title"/>
          <p:cNvSpPr/>
          <p:nvPr/>
        </p:nvSpPr>
        <p:spPr>
          <a:xfrm>
            <a:off x="1691640" y="22860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/>
          </a:p>
        </p:txBody>
      </p:sp>
      <p:sp>
        <p:nvSpPr>
          <p:cNvPr id="12" name="Row 01 desc"/>
          <p:cNvSpPr/>
          <p:nvPr/>
        </p:nvSpPr>
        <p:spPr>
          <a:xfrm>
            <a:off x="1691640" y="260604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are on YouTube whether or not it was built for them — the scale of under-13 use and invisible data collection.</a:t>
            </a:r>
            <a:endParaRPr lang="en-US" sz="1150"/>
          </a:p>
        </p:txBody>
      </p:sp>
      <p:sp>
        <p:nvSpPr>
          <p:cNvPr id="20" name="Num 02"/>
          <p:cNvSpPr/>
          <p:nvPr/>
        </p:nvSpPr>
        <p:spPr>
          <a:xfrm>
            <a:off x="777240" y="3246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/>
          </a:p>
        </p:txBody>
      </p:sp>
      <p:sp>
        <p:nvSpPr>
          <p:cNvPr id="21" name="Row 02 title"/>
          <p:cNvSpPr/>
          <p:nvPr/>
        </p:nvSpPr>
        <p:spPr>
          <a:xfrm>
            <a:off x="1691640" y="324612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today</a:t>
            </a:r>
            <a:endParaRPr lang="en-US" sz="1400"/>
          </a:p>
        </p:txBody>
      </p:sp>
      <p:sp>
        <p:nvSpPr>
          <p:cNvPr id="22" name="Row 02 desc"/>
          <p:cNvSpPr/>
          <p:nvPr/>
        </p:nvSpPr>
        <p:spPr>
          <a:xfrm>
            <a:off x="1691640" y="356616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moments in a child's experience, and where each one quietly fails a child or a parent.</a:t>
            </a:r>
            <a:endParaRPr lang="en-US" sz="1150"/>
          </a:p>
        </p:txBody>
      </p:sp>
      <p:sp>
        <p:nvSpPr>
          <p:cNvPr id="30" name="Num 03"/>
          <p:cNvSpPr/>
          <p:nvPr/>
        </p:nvSpPr>
        <p:spPr>
          <a:xfrm>
            <a:off x="77724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/>
          </a:p>
        </p:txBody>
      </p:sp>
      <p:sp>
        <p:nvSpPr>
          <p:cNvPr id="31" name="Row 03 title"/>
          <p:cNvSpPr/>
          <p:nvPr/>
        </p:nvSpPr>
        <p:spPr>
          <a:xfrm>
            <a:off x="1691640" y="420624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redesign</a:t>
            </a:r>
            <a:endParaRPr lang="en-US" sz="1400"/>
          </a:p>
        </p:txBody>
      </p:sp>
      <p:sp>
        <p:nvSpPr>
          <p:cNvPr id="32" name="Row 03 desc"/>
          <p:cNvSpPr/>
          <p:nvPr/>
        </p:nvSpPr>
        <p:spPr>
          <a:xfrm>
            <a:off x="1691640" y="45262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changes that turn one-time consent into an ongoing conversation between platform, child, and parent.</a:t>
            </a:r>
            <a:endParaRPr lang="en-US" sz="1150"/>
          </a:p>
        </p:txBody>
      </p:sp>
      <p:sp>
        <p:nvSpPr>
          <p:cNvPr id="40" name="Num 04"/>
          <p:cNvSpPr/>
          <p:nvPr/>
        </p:nvSpPr>
        <p:spPr>
          <a:xfrm>
            <a:off x="777240" y="5166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/>
          </a:p>
        </p:txBody>
      </p:sp>
      <p:sp>
        <p:nvSpPr>
          <p:cNvPr id="41" name="Row 04 title"/>
          <p:cNvSpPr/>
          <p:nvPr/>
        </p:nvSpPr>
        <p:spPr>
          <a:xfrm>
            <a:off x="1691640" y="516636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tradeoffs</a:t>
            </a:r>
            <a:endParaRPr lang="en-US" sz="1400"/>
          </a:p>
        </p:txBody>
      </p:sp>
      <p:sp>
        <p:nvSpPr>
          <p:cNvPr id="42" name="Row 04 desc"/>
          <p:cNvSpPr/>
          <p:nvPr/>
        </p:nvSpPr>
        <p:spPr>
          <a:xfrm>
            <a:off x="1691640" y="54864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redesign costs, what it earns back, and what I'd measure in the first month.</a:t>
            </a:r>
            <a:endParaRPr lang="en-US" sz="11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Why this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Kids are on YouTube whether or not YouTube built for them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1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0574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4871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051560" y="29992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under-13 users on the open app,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supervised Kids app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182880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1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0574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24871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4617720" y="29992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kids' watch time driven by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auto-play recommendations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909560" y="182880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1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20574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83880" y="24871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0"/>
          <p:cNvSpPr/>
          <p:nvPr/>
        </p:nvSpPr>
        <p:spPr>
          <a:xfrm>
            <a:off x="8183880" y="29992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consent screens shown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first video plays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77240" y="37947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issue: </a:t>
            </a:r>
            <a:r>
              <a:rPr lang="en-US" sz="13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today is a single yes/no at account setup — not an ongoing relationship between the platform, the child, and the parent.</a:t>
            </a:r>
            <a:endParaRPr lang="en-US" sz="13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1128" y="4617720"/>
            <a:ext cx="6949440" cy="13898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0" y="602589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child's device     →     collected     →     targeted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0" y="6318504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leaves the device — unseen by the child, unknown to the parent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The journey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moments, and where each one quietly fails a child or a parent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714500" y="2194560"/>
            <a:ext cx="8762695" cy="0"/>
          </a:xfrm>
          <a:prstGeom prst="line">
            <a:avLst/>
          </a:prstGeom>
          <a:noFill/>
          <a:ln w="19050">
            <a:solidFill>
              <a:srgbClr val="E4E1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68196" y="2048256"/>
            <a:ext cx="292608" cy="292608"/>
          </a:xfrm>
          <a:prstGeom prst="ellipse">
            <a:avLst/>
          </a:prstGeom>
          <a:solidFill>
            <a:srgbClr val="B23A2E"/>
          </a:solidFill>
          <a:ln w="38100">
            <a:solidFill>
              <a:srgbClr val="FBF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568196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514600"/>
            <a:ext cx="18745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66090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9900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setup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328269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self-declared;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verification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758870" y="2048256"/>
            <a:ext cx="292608" cy="292608"/>
          </a:xfrm>
          <a:prstGeom prst="ellipse">
            <a:avLst/>
          </a:prstGeom>
          <a:solidFill>
            <a:srgbClr val="B23A2E"/>
          </a:solidFill>
          <a:ln w="38100">
            <a:solidFill>
              <a:srgbClr val="FBF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758870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67914" y="2514600"/>
            <a:ext cx="18745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2506" y="266090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105074" y="29900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video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105074" y="328269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Autoplay begins before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data notice appears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949544" y="2048256"/>
            <a:ext cx="292608" cy="292608"/>
          </a:xfrm>
          <a:prstGeom prst="ellipse">
            <a:avLst/>
          </a:prstGeom>
          <a:solidFill>
            <a:srgbClr val="B23A2E"/>
          </a:solidFill>
          <a:ln w="38100">
            <a:solidFill>
              <a:srgbClr val="FBF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5949544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158588" y="2514600"/>
            <a:ext cx="18745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3180" y="2660904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95748" y="29900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295748" y="328269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signals logged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an adult account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8140217" y="2048256"/>
            <a:ext cx="292608" cy="292608"/>
          </a:xfrm>
          <a:prstGeom prst="ellipse">
            <a:avLst/>
          </a:prstGeom>
          <a:solidFill>
            <a:srgbClr val="B23A2E"/>
          </a:solidFill>
          <a:ln w="38100">
            <a:solidFill>
              <a:srgbClr val="FBF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8140217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349261" y="2514600"/>
            <a:ext cx="18745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3853" y="2660904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86421" y="29900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486421" y="328269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Engagement-optimised feed,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age-appropriate by design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10330891" y="2048256"/>
            <a:ext cx="292608" cy="292608"/>
          </a:xfrm>
          <a:prstGeom prst="ellipse">
            <a:avLst/>
          </a:prstGeom>
          <a:solidFill>
            <a:srgbClr val="B23A2E"/>
          </a:solidFill>
          <a:ln w="38100">
            <a:solidFill>
              <a:srgbClr val="FBF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/>
          <p:nvPr/>
        </p:nvSpPr>
        <p:spPr>
          <a:xfrm>
            <a:off x="10330891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9539935" y="2514600"/>
            <a:ext cx="18745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1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4527" y="2660904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677095" y="29900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view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9677095" y="328269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exist, but sit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menus deep, opt-in only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777240" y="4251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across all five: </a:t>
            </a: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and visibility are treated as a one-time gate, not something that travels with the child through the actual experience.</a:t>
            </a:r>
            <a:endParaRPr lang="en-US" sz="13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21128" y="4892040"/>
            <a:ext cx="6949440" cy="1482547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0" y="6447739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in practice: the same feed, unfiltered, queues straight to a child's screen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The redesign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changes that turn consent into an ongoing conversation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70408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4E1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96696" y="1901952"/>
            <a:ext cx="512064" cy="512064"/>
          </a:xfrm>
          <a:prstGeom prst="ellipse">
            <a:avLst/>
          </a:prstGeom>
          <a:solidFill>
            <a:srgbClr val="F1E9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02996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2821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linked child profiles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91640" y="205740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account confirms a child profile once, at signup — replacing a self-declared age field with a real relationship in the system.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7240" y="2843784"/>
            <a:ext cx="70408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4E1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996696" y="3145536"/>
            <a:ext cx="512064" cy="512064"/>
          </a:xfrm>
          <a:prstGeom prst="ellipse">
            <a:avLst/>
          </a:prstGeom>
          <a:solidFill>
            <a:srgbClr val="F1E9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" y="327355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97180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that travels with use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691640" y="3300984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plain-language prompt appears the first time a new data use kicks in (e.g. personalised ranking) — not buried once at setup.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77240" y="4087368"/>
            <a:ext cx="70408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4E1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996696" y="4389120"/>
            <a:ext cx="512064" cy="512064"/>
          </a:xfrm>
          <a:prstGeom prst="ellipse">
            <a:avLst/>
          </a:prstGeom>
          <a:solidFill>
            <a:srgbClr val="F1E9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" y="451713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1538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Non-behavioural defaults for kids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691640" y="454456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child profiles default to contextual signals (what's being watched now), not cross-session behavioural tracking.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77240" y="5330952"/>
            <a:ext cx="704088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4E1DC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996696" y="5632704"/>
            <a:ext cx="512064" cy="512064"/>
          </a:xfrm>
          <a:prstGeom prst="ellipse">
            <a:avLst/>
          </a:prstGeom>
          <a:solidFill>
            <a:srgbClr val="F1E9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712" y="576072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545896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digest, not a settings maze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691640" y="578815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monthly one-page summary — screen time, top channels, data used — sent to the parent, with one-tap access to change anything.</a:t>
            </a:r>
            <a:endParaRPr lang="en-US" sz="10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1965960"/>
            <a:ext cx="3383280" cy="196448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229600" y="4067605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here does one job:</a:t>
            </a:r>
            <a:endParaRPr lang="en-US" sz="11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parent–child relationship</a:t>
            </a:r>
            <a:endParaRPr lang="en-US" sz="11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the product, not just</a:t>
            </a:r>
            <a:endParaRPr lang="en-US" sz="11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Impact &amp; tradeoffs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costs, what it earns back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777240"/>
            <a:ext cx="777240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96596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25252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24028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08760" y="2240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tradeoff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508760" y="2743200"/>
            <a:ext cx="4114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8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Contextual-only recommendations for kids will likely reduce watch time and ad yield on that segment in the short term.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8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visible consent prompt adds one extra step versus today's silent default — a small onboarding cost.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8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exchange: fewer regulatory flashpoints, stronger parent trust, and a defensible answer when asked how a child's data is used.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263640" y="196596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25252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2402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95160" y="2240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measure in month one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995160" y="2788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prompt completion rate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9784080" y="2788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D98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&gt; 60%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995160" y="33558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digest open rate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784080" y="335584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D98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&gt; 40%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995160" y="392277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on child data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9784080" y="392277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D98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down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995160" y="448970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Watch-time delta, child segment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784080" y="448970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D98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monitored, not gated on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995160" y="3310128"/>
            <a:ext cx="4206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995160" y="3877056"/>
            <a:ext cx="4206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6995160" y="4443984"/>
            <a:ext cx="42062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777240" y="60807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Vedantu selection process — same lens I'd bring to protecting student and parent data.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osing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77724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/>
          </a:p>
        </p:txBody>
      </p:sp>
      <p:sp>
        <p:nvSpPr>
          <p:cNvPr id="3" name="Headline"/>
          <p:cNvSpPr/>
          <p:nvPr/>
        </p:nvSpPr>
        <p:spPr>
          <a:xfrm>
            <a:off x="731520" y="2423160"/>
            <a:ext cx="1069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time</a:t>
            </a:r>
            <a:endParaRPr lang="en-US" sz="4000"/>
          </a:p>
        </p:txBody>
      </p:sp>
      <p:sp>
        <p:nvSpPr>
          <p:cNvPr id="4" name="Subtitle"/>
          <p:cNvSpPr/>
          <p:nvPr/>
        </p:nvSpPr>
        <p:spPr>
          <a:xfrm>
            <a:off x="777240" y="3383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C9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walk through any part of this in more detail.</a:t>
            </a:r>
            <a:endParaRPr lang="en-US" sz="1500"/>
          </a:p>
        </p:txBody>
      </p:sp>
      <p:sp>
        <p:nvSpPr>
          <p:cNvPr id="5" name="Divider"/>
          <p:cNvSpPr/>
          <p:nvPr/>
        </p:nvSpPr>
        <p:spPr>
          <a:xfrm>
            <a:off x="777240" y="5029200"/>
            <a:ext cx="640080" cy="0"/>
          </a:xfrm>
          <a:prstGeom prst="line">
            <a:avLst/>
          </a:prstGeom>
          <a:ln w="28575">
            <a:solidFill>
              <a:srgbClr val="B23A2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Prepared by"/>
          <p:cNvSpPr/>
          <p:nvPr/>
        </p:nvSpPr>
        <p:spPr>
          <a:xfrm>
            <a:off x="777240" y="5257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>
                <a:solidFill>
                  <a:srgbClr val="8F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</a:t>
            </a: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Siddhart Bhattacharjee</a:t>
            </a:r>
            <a:endParaRPr lang="en-US" sz="1200"/>
          </a:p>
          <a:p>
            <a:pPr marL="0" indent="0">
              <a:lnSpc>
                <a:spcPct val="130000"/>
              </a:lnSpc>
              <a:buNone/>
            </a:pPr>
            <a:r>
              <a:rPr lang="en-US" sz="1200">
                <a:solidFill>
                  <a:srgbClr val="8F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Vedantu Product Assignment — Focus area: Children's data protection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1528</Words>
  <Application>Microsoft Office PowerPoint</Application>
  <PresentationFormat>Widescreen</PresentationFormat>
  <Paragraphs>104</Paragraphs>
  <Slides>7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YouTube — Children's Data Protection Review</dc:title>
  <dc:subject>PptxGenJS Presentation</dc:subject>
  <dc:creator>Candidate</dc:creator>
  <cp:lastModifiedBy>ashok Bhattacharjee</cp:lastModifiedBy>
  <cp:revision>10</cp:revision>
  <dcterms:created xsi:type="dcterms:W3CDTF">2026-07-05T04:52:45Z</dcterms:created>
  <dcterms:modified xsi:type="dcterms:W3CDTF">2026-07-05T06:13:12Z</dcterms:modified>
</cp:coreProperties>
</file>